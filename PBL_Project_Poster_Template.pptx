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3908" cy="151378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908" cy="151378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0F172A"/>
          </a:solidFill>
          <a:ln w="381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0000"/>
            <a:ext cx="1360000" cy="1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0000" y="180000"/>
            <a:ext cx="8500000" cy="1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FITPULSE 3D: REAL-TIME GYM MANAGEMENT &amp; BIOMETRIC TELEMETRY SYSTEM</a:t>
            </a:r>
          </a:p>
          <a:p>
            <a:pPr algn="ctr">
              <a:spcAft>
                <a:spcPts val="400"/>
              </a:spcAft>
              <a:defRPr sz="1250" b="1">
                <a:solidFill>
                  <a:srgbClr val="38BDF8"/>
                </a:solidFill>
                <a:latin typeface="Segoe UI"/>
              </a:defRPr>
            </a:pPr>
            <a:r>
              <a:t>Team ID: PBL-25CS1302E-04   |   Section: CSE-S1   |   Members: Nihal Metuku (2300030001), K. Shreyas (2300030002), Sai Sathwik (2300030003)   |   Guide: Dr. Faculty Mentor</a:t>
            </a:r>
          </a:p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Database Systems Engineering &amp; Distributed Backend Development (25CS1302E)   |   KLH Bachupally Campus, CSE   |   PBL 2026-27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4844034" cy="16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760" y="213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760" y="2443120"/>
            <a:ext cx="4564034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FitPulse is an enterprise-grade fitness ecosystem integrating physical biometric access control with automated financial and coaching governance. Built with React 19, Three.js, Node.js, and MySQL, the platform features 128-D neural facial recognition turnstiles, 60-second rotating TOTP MFA, and real-time WebSocket telemetry for athlete check-in alerts.</a:t>
            </a:r>
          </a:p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Main Outcome: Eliminates buddy-punching, unifies coach-athlete telemetry, and provides automated day-level prorated billing for mid-cycle plan switches with zero-refund policy enforcement.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23120"/>
            <a:ext cx="4844034" cy="26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82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760" y="385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E185D"/>
                </a:solidFill>
                <a:latin typeface="Segoe UI"/>
              </a:defRPr>
            </a:pPr>
            <a:r>
              <a:t>Problem Statement &amp;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760" y="4173120"/>
            <a:ext cx="4564034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50"/>
              </a:spcAft>
            </a:pPr>
            <a:r>
              <a:rPr sz="950" b="1">
                <a:solidFill>
                  <a:srgbClr val="BE185D"/>
                </a:solidFill>
                <a:latin typeface="Calibri"/>
              </a:rPr>
              <a:t>Problem: </a:t>
            </a:r>
            <a:r>
              <a:rPr sz="950" b="0">
                <a:solidFill>
                  <a:srgbClr val="334155"/>
                </a:solidFill>
                <a:latin typeface="Calibri"/>
              </a:rPr>
              <a:t>Conventional fitness centers rely on shared RFID tags or manual desk registers vulnerable to unauthorized tailgate access, with frequent arithmetic errors in mid-cycle membership tier adjustments and coach allocations.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• Obj 1 (Biometric Access): </a:t>
            </a:r>
            <a:r>
              <a:rPr sz="950" b="0">
                <a:solidFill>
                  <a:srgbClr val="334155"/>
                </a:solidFill>
                <a:latin typeface="Calibri"/>
              </a:rPr>
              <a:t>Implement dual-factor turnstile Face ID (128-D neural embeddings) paired with dynamic 60s rotating TOTP MFA passcodes.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• Obj 2 (Prorated Billing): </a:t>
            </a:r>
            <a:r>
              <a:rPr sz="950" b="0">
                <a:solidFill>
                  <a:srgbClr val="334155"/>
                </a:solidFill>
                <a:latin typeface="Calibri"/>
              </a:rPr>
              <a:t>Build an ACID-compliant billing engine with Cashfree PG integration, unused-credit upgrades, and strict non-refundable downgrade rules.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0F172A"/>
                </a:solidFill>
                <a:latin typeface="Calibri"/>
              </a:rPr>
              <a:t>• Obj 3 (Real-time Telemetry): </a:t>
            </a:r>
            <a:r>
              <a:rPr sz="950" b="0">
                <a:solidFill>
                  <a:srgbClr val="334155"/>
                </a:solidFill>
                <a:latin typeface="Calibri"/>
              </a:rPr>
              <a:t>Establish full-duplex WebSockets for instant check-in notifications to assigned trainers and unified administrative governance.</a:t>
            </a:r>
          </a:p>
          <a:p>
            <a:pPr>
              <a:spcAft>
                <a:spcPts val="350"/>
              </a:spcAft>
            </a:pPr>
            <a:r>
              <a:rPr sz="950" b="1">
                <a:solidFill>
                  <a:srgbClr val="BE185D"/>
                </a:solidFill>
                <a:latin typeface="Calibri"/>
              </a:rPr>
              <a:t>• Scope: </a:t>
            </a:r>
            <a:r>
              <a:rPr sz="950" b="0">
                <a:solidFill>
                  <a:srgbClr val="334155"/>
                </a:solidFill>
                <a:latin typeface="Calibri"/>
              </a:rPr>
              <a:t>Role-based portals (Member, Coach, Admin), automated Cashfree checkout, workout programmer, nutrition logging, and durable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6593120"/>
            <a:ext cx="4844034" cy="3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659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760" y="662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Existing vs Proposed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45760" y="6933120"/>
          <a:ext cx="4684033" cy="2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29"/>
                <a:gridCol w="1686252"/>
                <a:gridCol w="1686252"/>
              </a:tblGrid>
              <a:tr h="44166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T="38100" marB="38100" marL="63500" marR="635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Gym Systems</a:t>
                      </a:r>
                    </a:p>
                  </a:txBody>
                  <a:tcPr marT="38100" marB="38100" marL="63500" marR="635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System (FitPulse 3D)</a:t>
                      </a:r>
                    </a:p>
                  </a:txBody>
                  <a:tcPr marT="38100" marB="38100" marL="63500" marR="63500">
                    <a:solidFill>
                      <a:srgbClr val="1D4ED8"/>
                    </a:solidFill>
                  </a:tcPr>
                </a:tc>
              </a:tr>
              <a:tr h="4416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Access Control &amp; Attendance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Static RFID / manual logs; prone to buddy punching &amp; loss.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Dual-factor: 128-D Face-API.js + 60s rotating TOTP MFA.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</a:tr>
              <a:tr h="4416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Plan Upgrades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Manual front-desk estimations; frequent arithmetic errors.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Automated day-level proration engine credited via Cashfree PG.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</a:tr>
              <a:tr h="4416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Downgrade Policy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Inconsistent ad-hoc refund credits causing revenue leakage.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Strict No-Refund / Zero-Credit Policy at database layer (₹0.00).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</a:tr>
              <a:tr h="4416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Trainer Telemetry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Siloed logs; coaches unaware when their athletes arrive.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Instant WebSocket alerts pushed to coach upon turnstile entry.</a:t>
                      </a:r>
                    </a:p>
                  </a:txBody>
                  <a:tcPr marT="38100" marB="38100" marL="63500" marR="63500">
                    <a:solidFill>
                      <a:srgbClr val="EDF2F7"/>
                    </a:solidFill>
                  </a:tcPr>
                </a:tc>
              </a:tr>
              <a:tr h="44167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UI &amp; Visualization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Clunky static HTML tables; disjointed user experience.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47857"/>
                          </a:solidFill>
                          <a:latin typeface="Calibri"/>
                        </a:defRPr>
                      </a:pPr>
                      <a:r>
                        <a:t>Interactive 3D Glassmorphism UI (Three.js), Bento HUD.</a:t>
                      </a:r>
                    </a:p>
                  </a:txBody>
                  <a:tcPr marT="38100" marB="38100" marL="63500" marR="635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65760" y="9763120"/>
            <a:ext cx="4844034" cy="2872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976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760" y="979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5803D"/>
                </a:solidFill>
                <a:latin typeface="Segoe UI"/>
              </a:defRPr>
            </a:pPr>
            <a:r>
              <a:t>Feasibility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760" y="10113120"/>
            <a:ext cx="4564034" cy="2472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• Technical Feasibility: </a:t>
            </a:r>
            <a:r>
              <a:rPr sz="950" b="0">
                <a:solidFill>
                  <a:srgbClr val="334155"/>
                </a:solidFill>
                <a:latin typeface="Calibri"/>
              </a:rPr>
              <a:t>High. Built using modern web standards (React 19, Node.js 24, Vite 8, Express 5, MySQL 8). Client-side neural biometric execution eliminates costly dedicated GPU inference servers.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• Economic Feasibility: </a:t>
            </a:r>
            <a:r>
              <a:rPr sz="950" b="0">
                <a:solidFill>
                  <a:srgbClr val="334155"/>
                </a:solidFill>
                <a:latin typeface="Calibri"/>
              </a:rPr>
              <a:t>Extremely cost-effective. Built entirely on open-source frameworks (MySQL, Socket.io, Face-API), utilizing Cashfree Sandbox API and scalable cloud/on-premise deployment.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• Operational Feasibility: </a:t>
            </a:r>
            <a:r>
              <a:rPr sz="950" b="0">
                <a:solidFill>
                  <a:srgbClr val="334155"/>
                </a:solidFill>
                <a:latin typeface="Calibri"/>
              </a:rPr>
              <a:t>Seamless user adoption. Provides self-service profile management for coaches/athletes and 1-click administrative review dossiers with complete audit trail persistence.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5803D"/>
                </a:solidFill>
                <a:latin typeface="Calibri"/>
              </a:rPr>
              <a:t>• Schedule Feasibility: </a:t>
            </a:r>
            <a:r>
              <a:rPr sz="950" b="0">
                <a:solidFill>
                  <a:srgbClr val="334155"/>
                </a:solidFill>
                <a:latin typeface="Calibri"/>
              </a:rPr>
              <a:t>Delivered on schedule across 14-week phased milestones covering schema design, REST/WebSocket APIs, Cashfree integration, face biometrics, and end-to-end integration testing.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4114" y="2103120"/>
            <a:ext cx="4844034" cy="2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4114" y="210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4114" y="213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369A1"/>
                </a:solidFill>
                <a:latin typeface="Segoe UI"/>
              </a:defRPr>
            </a:pPr>
            <a:r>
              <a:t>Tools &amp; 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4114" y="2453120"/>
            <a:ext cx="4564034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50"/>
              </a:spcAft>
            </a:pPr>
            <a:r>
              <a:rPr sz="1000" b="1">
                <a:solidFill>
                  <a:srgbClr val="0369A1"/>
                </a:solidFill>
                <a:latin typeface="Calibri"/>
              </a:rPr>
              <a:t>• Front-End Stack: </a:t>
            </a:r>
            <a:r>
              <a:rPr sz="1000">
                <a:solidFill>
                  <a:srgbClr val="334155"/>
                </a:solidFill>
                <a:latin typeface="Calibri"/>
              </a:rPr>
              <a:t>React 19, Vite 8, Three.js (3D Viewport), CSS Glassmorphic Architecture, Socket.io-Client, Vladmandic Face-API.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0369A1"/>
                </a:solidFill>
                <a:latin typeface="Calibri"/>
              </a:rPr>
              <a:t>• Back-End Services: </a:t>
            </a:r>
            <a:r>
              <a:rPr sz="1000">
                <a:solidFill>
                  <a:srgbClr val="334155"/>
                </a:solidFill>
                <a:latin typeface="Calibri"/>
              </a:rPr>
              <a:t>Node.js 24 (ESM), Express 5, RESTful Endpoints, Cashfree Payment Gateway SDK, Socket.io WebSocket Engine.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0369A1"/>
                </a:solidFill>
                <a:latin typeface="Calibri"/>
              </a:rPr>
              <a:t>• Database Architecture: </a:t>
            </a:r>
            <a:r>
              <a:rPr sz="1000">
                <a:solidFill>
                  <a:srgbClr val="334155"/>
                </a:solidFill>
                <a:latin typeface="Calibri"/>
              </a:rPr>
              <a:t>MySQL 8 Relational Core (Normalized 3NF Schema, Foreign Keys, Indexing, Connection Pool, ACID Transactions).</a:t>
            </a:r>
          </a:p>
          <a:p>
            <a:pPr>
              <a:spcAft>
                <a:spcPts val="450"/>
              </a:spcAft>
            </a:pPr>
            <a:r>
              <a:rPr sz="1000" b="1">
                <a:solidFill>
                  <a:srgbClr val="0369A1"/>
                </a:solidFill>
                <a:latin typeface="Calibri"/>
              </a:rPr>
              <a:t>• Security &amp; Biometrics: </a:t>
            </a:r>
            <a:r>
              <a:rPr sz="1000">
                <a:solidFill>
                  <a:srgbClr val="334155"/>
                </a:solidFill>
                <a:latin typeface="Calibri"/>
              </a:rPr>
              <a:t>128-D Neural Facial Embeddings, SHA-256 HMAC (60s MFA Engine), bcryptjs password hashing, Git, Postman, VS Code, Sharp.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4114" y="4373120"/>
            <a:ext cx="4844034" cy="26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4114" y="437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4114" y="440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6D28D9"/>
                </a:solidFill>
                <a:latin typeface="Segoe UI"/>
              </a:defRPr>
            </a:pPr>
            <a:r>
              <a:t>System Architecture</a:t>
            </a:r>
          </a:p>
        </p:txBody>
      </p:sp>
      <p:pic>
        <p:nvPicPr>
          <p:cNvPr id="29" name="Picture 28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114" y="4713120"/>
            <a:ext cx="4684034" cy="22500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484114" y="7143120"/>
            <a:ext cx="4844034" cy="24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4114" y="714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4114" y="717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ER Diagram &amp; Database Design</a:t>
            </a:r>
          </a:p>
        </p:txBody>
      </p:sp>
      <p:pic>
        <p:nvPicPr>
          <p:cNvPr id="33" name="Picture 32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114" y="7483120"/>
            <a:ext cx="4684034" cy="2050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484114" y="9713120"/>
            <a:ext cx="4844034" cy="2972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4114" y="9713120"/>
            <a:ext cx="4844034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4114" y="9748120"/>
            <a:ext cx="4564034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Segoe UI"/>
              </a:defRPr>
            </a:pPr>
            <a:r>
              <a:t>Implementation Screenshots</a:t>
            </a:r>
          </a:p>
        </p:txBody>
      </p:sp>
      <p:pic>
        <p:nvPicPr>
          <p:cNvPr id="37" name="Picture 36" descr="screenshot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114" y="10053120"/>
            <a:ext cx="2322017" cy="2300000"/>
          </a:xfrm>
          <a:prstGeom prst="rect">
            <a:avLst/>
          </a:prstGeom>
        </p:spPr>
      </p:pic>
      <p:pic>
        <p:nvPicPr>
          <p:cNvPr id="38" name="Picture 37" descr="screenshot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131" y="10053120"/>
            <a:ext cx="2322017" cy="23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54114" y="12373120"/>
            <a:ext cx="2322017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F766E"/>
                </a:solidFill>
                <a:latin typeface="Segoe UI"/>
              </a:defRPr>
            </a:pPr>
            <a:r>
              <a:t>Fig 1: Member 3D Bento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6131" y="12373120"/>
            <a:ext cx="2322017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F766E"/>
                </a:solidFill>
                <a:latin typeface="Segoe UI"/>
              </a:defRPr>
            </a:pPr>
            <a:r>
              <a:t>Fig 2: Turnstile Face ID &amp; 60s MFA Scanner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12573000"/>
            <a:ext cx="31379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12573000"/>
            <a:ext cx="3137916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760" y="12608000"/>
            <a:ext cx="285791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Segoe UI"/>
              </a:defRPr>
            </a:pPr>
            <a:r>
              <a:t>Results &amp;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760" y="12923000"/>
            <a:ext cx="2937916" cy="12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Functional Verification: 100% test pass rate across authentication, biometric verification, membership transitions, and Cashfree gateway webhooks.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Performance Benchmarks: Sub-350ms neural facial landmark recognition; sub-20ms MySQL query response time under connection pooling.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43676" y="12573000"/>
            <a:ext cx="31379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43676" y="12573000"/>
            <a:ext cx="3137916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3676" y="12608000"/>
            <a:ext cx="285791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D7C0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3676" y="12923000"/>
            <a:ext cx="2937916" cy="12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FitPulse successfully modernizes fitness facility management by bridging physical biometric turnstile security with dynamic financial accounting and automated coaching governance.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Meets all course outcomes for distributed backend development, secure relational schema design, real-time event streaming, and enterprise software engineering.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21592" y="12573000"/>
            <a:ext cx="313791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21592" y="12573000"/>
            <a:ext cx="3137916" cy="3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61592" y="12608000"/>
            <a:ext cx="2857916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21CA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1592" y="12923000"/>
            <a:ext cx="2937916" cy="12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AI Form Correction: Real-time camera pose estimation (MediaPipe/MoveNet) for barbell lift mechanics and injury prevention.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IoT Turnstile Relays: Direct microcontroller interfacing (ESP32 / Raspberry Pi relay gates) for physical turnstile solenoids.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14356080"/>
            <a:ext cx="8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Segoe UI"/>
              </a:rPr>
              <a:t>References: </a:t>
            </a:r>
            <a:r>
              <a:rPr sz="900">
                <a:solidFill>
                  <a:srgbClr val="475569"/>
                </a:solidFill>
                <a:latin typeface="Segoe UI"/>
              </a:rPr>
              <a:t>[1] Elmasri &amp; Navathe, Fundamentals of Database Systems, 7th Ed., Pearson, 2017.   [2] Face-API.js &amp; TensorFlow.js: Real-time Facial Landmark Recognition.   [3] Cashfree Payments: Payment Gateway Integration Guide, 2024.   [4] React &amp; Node.js Distributed Telemetry Docs.</a:t>
            </a:r>
          </a:p>
        </p:txBody>
      </p:sp>
      <p:pic>
        <p:nvPicPr>
          <p:cNvPr id="54" name="Picture 53" descr="github_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188" y="14220000"/>
            <a:ext cx="822960" cy="8229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400000" y="14020000"/>
            <a:ext cx="10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75569"/>
                </a:solidFill>
                <a:latin typeface="Segoe UI"/>
              </a:defRPr>
            </a:pPr>
            <a:r>
              <a:t>SCAN FOR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